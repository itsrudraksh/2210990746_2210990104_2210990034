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70" r:id="rId6"/>
    <p:sldId id="259" r:id="rId7"/>
    <p:sldId id="271" r:id="rId8"/>
    <p:sldId id="260" r:id="rId9"/>
    <p:sldId id="272" r:id="rId10"/>
    <p:sldId id="273" r:id="rId11"/>
    <p:sldId id="269" r:id="rId12"/>
    <p:sldId id="264" r:id="rId13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TxnPD+aw2LrBypMl/CD7XQ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450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ac0196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9ac019662_0_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67855" y="1152575"/>
            <a:ext cx="9033163" cy="413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Code Retrieval Accuracy in Developer-Oriented RAG Systems using Semantic Chunking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9736"/>
              </a:lnSpc>
            </a:pPr>
            <a:endParaRPr lang="en-US" sz="32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endParaRPr lang="en-IN"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19736"/>
              </a:lnSpc>
            </a:pPr>
            <a:r>
              <a:rPr lang="en-IN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100" dirty="0">
                <a:latin typeface="Times New Roman"/>
                <a:ea typeface="Times New Roman"/>
                <a:cs typeface="Times New Roman"/>
                <a:sym typeface="Times New Roman"/>
              </a:rPr>
              <a:t>Supervised By 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algn="ctr">
              <a:lnSpc>
                <a:spcPct val="101200"/>
              </a:lnSpc>
              <a:spcBef>
                <a:spcPts val="5"/>
              </a:spcBef>
            </a:pPr>
            <a:r>
              <a:rPr lang="en-IN" sz="1800" dirty="0" err="1"/>
              <a:t>Dr.Preeti</a:t>
            </a:r>
            <a:r>
              <a:rPr lang="en-IN" sz="1800" dirty="0"/>
              <a:t> Saini, </a:t>
            </a:r>
            <a:r>
              <a:rPr lang="en-IN" sz="1800" dirty="0" err="1"/>
              <a:t>Dr.</a:t>
            </a:r>
            <a:r>
              <a:rPr lang="en-IN" sz="1800" dirty="0"/>
              <a:t> Gurpreet Singh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284545" y="6091004"/>
            <a:ext cx="7103745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l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17252" y="3009672"/>
            <a:ext cx="390363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lang="en-IN" dirty="0"/>
              <a:t>Rudraksh Kapoor -  2210990746</a:t>
            </a:r>
            <a:br>
              <a:rPr lang="en-IN" dirty="0"/>
            </a:br>
            <a:r>
              <a:rPr lang="en-IN" dirty="0"/>
              <a:t>Anshul Arora - 2210990141</a:t>
            </a:r>
            <a:br>
              <a:rPr lang="en-IN" dirty="0"/>
            </a:br>
            <a:r>
              <a:rPr lang="en-IN" dirty="0"/>
              <a:t>Abhishek - 2210990043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</a:p>
        </p:txBody>
      </p:sp>
      <p:sp>
        <p:nvSpPr>
          <p:cNvPr id="59" name="Google Shape;59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</a:p>
        </p:txBody>
      </p:sp>
      <p:sp>
        <p:nvSpPr>
          <p:cNvPr id="100" name="ContentBox"/>
          <p:cNvSpPr txBox="1"/>
          <p:nvPr/>
        </p:nvSpPr>
        <p:spPr>
          <a:xfrm>
            <a:off x="276876" y="1105823"/>
            <a:ext cx="8800000" cy="6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What is RAG?</a:t>
            </a:r>
          </a:p>
          <a:p>
            <a:pPr algn="l">
              <a:spcBef>
                <a:spcPts val="200"/>
              </a:spcBef>
            </a:pPr>
            <a:r>
              <a:rPr lang="en-US" sz="1500" dirty="0"/>
              <a:t>Retrieval-Augmented Generation (RAG) augments LLMs with an external knowledge retrieval step, enabling domain-specific responses without costly retraining. It has proven highly effective in text-based NLP tasks including QA, fact-checking, and summarization.</a:t>
            </a:r>
          </a:p>
          <a:p>
            <a:pPr algn="l">
              <a:spcBef>
                <a:spcPts val="400"/>
              </a:spcBef>
            </a:pPr>
            <a:r>
              <a:rPr lang="en-US" sz="1800" b="1" dirty="0">
                <a:solidFill>
                  <a:srgbClr val="CC0000"/>
                </a:solidFill>
              </a:rPr>
              <a:t>The Code Retrieval Gap</a:t>
            </a:r>
          </a:p>
          <a:p>
            <a:pPr algn="l">
              <a:spcBef>
                <a:spcPts val="200"/>
              </a:spcBef>
            </a:pPr>
            <a:r>
              <a:rPr lang="en-US" sz="1500" dirty="0"/>
              <a:t>Applying RAG to source code is fundamentally challenging. Standard text chunking (fixed character-size) is content-agnostic and breaks code at arbitrary points — cutting through function bodies, class definitions, and docstrings — producing fragments that are syntactically incomplete and semantically misleading.</a:t>
            </a:r>
          </a:p>
          <a:p>
            <a:pPr algn="l">
              <a:spcBef>
                <a:spcPts val="400"/>
              </a:spcBef>
            </a:pPr>
            <a:r>
              <a:rPr lang="en-US" sz="1800" b="1" dirty="0">
                <a:solidFill>
                  <a:srgbClr val="CC0000"/>
                </a:solidFill>
              </a:rPr>
              <a:t>This Research</a:t>
            </a:r>
          </a:p>
          <a:p>
            <a:pPr algn="l">
              <a:spcBef>
                <a:spcPts val="200"/>
              </a:spcBef>
            </a:pPr>
            <a:r>
              <a:rPr lang="en-US" sz="1500" dirty="0"/>
              <a:t>We compare two RAG chunking pipelines over the Flask Python codebase (83 source files): Pipeline A uses fixed-size character splitting while Pipeline B uses AST-aware, Python-syntax-aligned semantic chunking. Both use the same embedding model (all-MiniLM-L6-v2) and ChromaDB vector store.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</a:p>
        </p:txBody>
      </p:sp>
      <p:sp>
        <p:nvSpPr>
          <p:cNvPr id="100" name="ContentBox"/>
          <p:cNvSpPr txBox="1"/>
          <p:nvPr/>
        </p:nvSpPr>
        <p:spPr>
          <a:xfrm>
            <a:off x="276876" y="1032103"/>
            <a:ext cx="8800000" cy="6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Core Problem</a:t>
            </a:r>
          </a:p>
          <a:p>
            <a:pPr algn="l">
              <a:spcBef>
                <a:spcPts val="200"/>
              </a:spcBef>
            </a:pPr>
            <a:r>
              <a:rPr lang="en-US" sz="1500" dirty="0"/>
              <a:t>Standard RAG pipelines split source code by fixed character count (chunk_size=1000), ignoring Python syntax. The offset k in cᵢ = S[k : k + chunk_size] is determined purely by character count — not by semantic or syntactic boundaries.</a:t>
            </a:r>
          </a:p>
          <a:p>
            <a:pPr algn="l">
              <a:spcBef>
                <a:spcPts val="400"/>
              </a:spcBef>
            </a:pPr>
            <a:r>
              <a:rPr lang="en-US" sz="1800" b="1" dirty="0">
                <a:solidFill>
                  <a:srgbClr val="CC0000"/>
                </a:solidFill>
              </a:rPr>
              <a:t>Resulting Failure Modes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500" b="1" dirty="0"/>
              <a:t>Context Fragmentation: </a:t>
            </a:r>
            <a:r>
              <a:rPr lang="en-US" sz="1500" dirty="0"/>
              <a:t>Chunks start mid-function or mid-class, losing the function signature and docstring that LLMs need for understanding.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500" b="1" dirty="0"/>
              <a:t>Keyword Blindness: </a:t>
            </a:r>
            <a:r>
              <a:rPr lang="en-US" sz="1500" dirty="0"/>
              <a:t>When two functions are merged in one chunk, shorter keyword-dense functions outrank the intended target, diluting embedding precision.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500" b="1" dirty="0"/>
              <a:t>Wrong File Retrieval: </a:t>
            </a:r>
            <a:r>
              <a:rPr lang="en-US" sz="1500" dirty="0"/>
              <a:t>Test files containing related method names can rank above the source implementation, returning irrelevant scaffolding code.</a:t>
            </a:r>
          </a:p>
          <a:p>
            <a:pPr algn="l">
              <a:spcBef>
                <a:spcPts val="400"/>
              </a:spcBef>
            </a:pPr>
            <a:r>
              <a:rPr lang="en-US" sz="1800" b="1" dirty="0">
                <a:solidFill>
                  <a:srgbClr val="CC0000"/>
                </a:solidFill>
              </a:rPr>
              <a:t>Research Question</a:t>
            </a:r>
          </a:p>
          <a:p>
            <a:pPr algn="l">
              <a:spcBef>
                <a:spcPts val="200"/>
              </a:spcBef>
            </a:pPr>
            <a:r>
              <a:rPr lang="en-US" sz="1500" dirty="0"/>
              <a:t>Does substituting fixed-size chunking with AST-aware, Python-syntax-aligned semantic splitting improve code retrieval quality in a developer-focused RAG system?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</a:p>
        </p:txBody>
      </p:sp>
      <p:sp>
        <p:nvSpPr>
          <p:cNvPr id="100" name="ContentBox"/>
          <p:cNvSpPr txBox="1"/>
          <p:nvPr/>
        </p:nvSpPr>
        <p:spPr>
          <a:xfrm>
            <a:off x="332121" y="993191"/>
            <a:ext cx="8800000" cy="6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dirty="0"/>
              <a:t>This study aims to: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600" dirty="0"/>
              <a:t>Perform a </a:t>
            </a:r>
            <a:r>
              <a:rPr lang="en-US" sz="1600" b="1" dirty="0"/>
              <a:t>controlled comparison</a:t>
            </a:r>
            <a:r>
              <a:rPr lang="en-US" sz="1600" dirty="0"/>
              <a:t> of fixed-size vs. AST-aware chunking strategies over a real-world Python codebase (Flask web framework, 83 source files).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600" dirty="0"/>
              <a:t>Identify and </a:t>
            </a:r>
            <a:r>
              <a:rPr lang="en-US" sz="1600" b="1" dirty="0"/>
              <a:t>characterize failure modes</a:t>
            </a:r>
            <a:r>
              <a:rPr lang="en-US" sz="1600" dirty="0"/>
              <a:t> (context fragmentation, keyword blindness) in baseline character-based RAG retrieval.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600" dirty="0"/>
              <a:t>Provide </a:t>
            </a:r>
            <a:r>
              <a:rPr lang="en-US" sz="1600" b="1" dirty="0"/>
              <a:t>empirical evidence</a:t>
            </a:r>
            <a:r>
              <a:rPr lang="en-US" sz="1600" dirty="0"/>
              <a:t> that semantic chunking produces syntactically complete, self-contained code units that improve retrieval precision.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600" dirty="0"/>
              <a:t>Demonstrate an </a:t>
            </a:r>
            <a:r>
              <a:rPr lang="en-US" sz="1600" b="1" dirty="0"/>
              <a:t>open-source, reproducible experimental framework</a:t>
            </a:r>
            <a:r>
              <a:rPr lang="en-US" sz="1600" dirty="0"/>
              <a:t> using LangChain, ChromaDB, and HuggingFace — no proprietary services required.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600" dirty="0"/>
              <a:t>Evaluate retrieval across </a:t>
            </a:r>
            <a:r>
              <a:rPr lang="en-US" sz="1600" b="1" dirty="0"/>
              <a:t>20 developer-focused natural language queries</a:t>
            </a:r>
            <a:r>
              <a:rPr lang="en-US" sz="1600" dirty="0"/>
              <a:t> covering method behaviour, class structure, lifecycle, configuration, and CLI patterns.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600" dirty="0"/>
              <a:t>Show that AST-aware chunking is a </a:t>
            </a:r>
            <a:r>
              <a:rPr lang="en-US" sz="1600" b="1" dirty="0"/>
              <a:t>zero-cost, drop-in upgrade</a:t>
            </a:r>
            <a:r>
              <a:rPr lang="en-US" sz="1600" dirty="0"/>
              <a:t> over any existing LangChain-based RAG pipeline for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</a:p>
        </p:txBody>
      </p:sp>
      <p:sp>
        <p:nvSpPr>
          <p:cNvPr id="100" name="ContentBox"/>
          <p:cNvSpPr txBox="1"/>
          <p:nvPr/>
        </p:nvSpPr>
        <p:spPr>
          <a:xfrm>
            <a:off x="276876" y="1105823"/>
            <a:ext cx="8800000" cy="6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RAG Foundations</a:t>
            </a:r>
          </a:p>
          <a:p>
            <a:pPr marL="228600" indent="-228600" algn="l">
              <a:spcBef>
                <a:spcPts val="150"/>
              </a:spcBef>
              <a:buChar char="•"/>
            </a:pPr>
            <a:r>
              <a:rPr lang="en-US" sz="1400" b="1" dirty="0"/>
              <a:t>Lewis et al. [2020]: </a:t>
            </a:r>
            <a:r>
              <a:rPr lang="en-US" sz="1400" dirty="0"/>
              <a:t>Introduced RAG framework fusing dense passage retrieval with seq2seq generation; no code support.</a:t>
            </a:r>
          </a:p>
          <a:p>
            <a:pPr marL="228600" indent="-228600" algn="l">
              <a:spcBef>
                <a:spcPts val="150"/>
              </a:spcBef>
              <a:buChar char="•"/>
            </a:pPr>
            <a:r>
              <a:rPr lang="en-US" sz="1400" b="1" dirty="0"/>
              <a:t>Asai et al. [Self-RAG, 2024]: </a:t>
            </a:r>
            <a:r>
              <a:rPr lang="en-US" sz="1400" dirty="0"/>
              <a:t>LLM decides when to retrieve and whether passages are useful; reduces irrelevant context in output.</a:t>
            </a:r>
          </a:p>
          <a:p>
            <a:pPr algn="l">
              <a:spcBef>
                <a:spcPts val="300"/>
              </a:spcBef>
            </a:pPr>
            <a:r>
              <a:rPr lang="en-US" sz="1800" b="1" dirty="0">
                <a:solidFill>
                  <a:srgbClr val="CC0000"/>
                </a:solidFill>
              </a:rPr>
              <a:t>Code-Specific RAG &amp; Chunking</a:t>
            </a:r>
          </a:p>
          <a:p>
            <a:pPr marL="228600" indent="-228600" algn="l">
              <a:spcBef>
                <a:spcPts val="150"/>
              </a:spcBef>
              <a:buChar char="•"/>
            </a:pPr>
            <a:r>
              <a:rPr lang="en-US" sz="1400" b="1" dirty="0"/>
              <a:t>Wang et al. [CodeRAG-Bench, 2025]: </a:t>
            </a:r>
            <a:r>
              <a:rPr lang="en-US" sz="1400" dirty="0"/>
              <a:t>Found chunk sizes 200–800 tokens optimal; no AST awareness evaluated.</a:t>
            </a:r>
          </a:p>
          <a:p>
            <a:pPr marL="228600" indent="-228600" algn="l">
              <a:spcBef>
                <a:spcPts val="150"/>
              </a:spcBef>
              <a:buChar char="•"/>
            </a:pPr>
            <a:r>
              <a:rPr lang="en-US" sz="1400" b="1" dirty="0"/>
              <a:t>Ding et al. [CrossCodeEval, 2023]: </a:t>
            </a:r>
            <a:r>
              <a:rPr lang="en-US" sz="1400" dirty="0"/>
              <a:t>Function-level granularity outperforms file-level and line-level for cross-file code completion; no comparison study.</a:t>
            </a:r>
          </a:p>
          <a:p>
            <a:pPr marL="228600" indent="-228600" algn="l">
              <a:spcBef>
                <a:spcPts val="150"/>
              </a:spcBef>
              <a:buChar char="•"/>
            </a:pPr>
            <a:r>
              <a:rPr lang="en-US" sz="1400" b="1" dirty="0"/>
              <a:t>Zhang et al. [RepoCoder, 2023]: </a:t>
            </a:r>
            <a:r>
              <a:rPr lang="en-US" sz="1400" dirty="0"/>
              <a:t>Iterative function-level retrieval for repository code using BM25; no controlled comparison.</a:t>
            </a:r>
          </a:p>
          <a:p>
            <a:pPr marL="228600" indent="-228600" algn="l">
              <a:spcBef>
                <a:spcPts val="150"/>
              </a:spcBef>
              <a:buChar char="•"/>
            </a:pPr>
            <a:r>
              <a:rPr lang="en-US" sz="1400" b="1" dirty="0"/>
              <a:t>Zhou et al. [DocPrompting, 2023]: </a:t>
            </a:r>
            <a:r>
              <a:rPr lang="en-US" sz="1400" dirty="0"/>
              <a:t>Document-level retrieval for library docs; no function isolation in chunks.</a:t>
            </a:r>
          </a:p>
          <a:p>
            <a:pPr algn="l">
              <a:spcBef>
                <a:spcPts val="300"/>
              </a:spcBef>
            </a:pPr>
            <a:r>
              <a:rPr lang="en-US" sz="1800" b="1" dirty="0">
                <a:solidFill>
                  <a:srgbClr val="CC0000"/>
                </a:solidFill>
              </a:rPr>
              <a:t>Research Gap Addressed</a:t>
            </a:r>
          </a:p>
          <a:p>
            <a:pPr algn="l">
              <a:spcBef>
                <a:spcPts val="150"/>
              </a:spcBef>
            </a:pPr>
            <a:r>
              <a:rPr lang="en-US" sz="1400" dirty="0"/>
              <a:t>No prior study simultaneously applies AST-aware semantic chunking to a Python library corpus stored in ChromaDB with a controlled side-by-side comparison — this paper fills that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</a:p>
        </p:txBody>
      </p:sp>
      <p:sp>
        <p:nvSpPr>
          <p:cNvPr id="100" name="LeftCol"/>
          <p:cNvSpPr txBox="1"/>
          <p:nvPr/>
        </p:nvSpPr>
        <p:spPr>
          <a:xfrm>
            <a:off x="165370" y="1022790"/>
            <a:ext cx="4250000" cy="6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System Architecture (4 Stages)</a:t>
            </a:r>
          </a:p>
          <a:p>
            <a:pPr algn="l">
              <a:spcBef>
                <a:spcPts val="300"/>
              </a:spcBef>
            </a:pPr>
            <a:r>
              <a:rPr lang="en-US" sz="1500" b="1" dirty="0"/>
              <a:t>Stage 1: Document Loader</a:t>
            </a:r>
          </a:p>
          <a:p>
            <a:pPr algn="l">
              <a:spcBef>
                <a:spcPts val="100"/>
              </a:spcBef>
            </a:pPr>
            <a:r>
              <a:rPr lang="en-US" sz="1400" dirty="0"/>
              <a:t>LangChain DirectoryLoader + TextLoader ingests all 83 Flask .py source files, producing one Document object per file.</a:t>
            </a:r>
          </a:p>
          <a:p>
            <a:pPr algn="l">
              <a:spcBef>
                <a:spcPts val="300"/>
              </a:spcBef>
            </a:pPr>
            <a:r>
              <a:rPr lang="en-US" sz="1500" b="1" dirty="0"/>
              <a:t>Stage 2: Chunking Module (differs per pipeline)</a:t>
            </a:r>
          </a:p>
          <a:p>
            <a:pPr algn="l">
              <a:spcBef>
                <a:spcPts val="100"/>
              </a:spcBef>
            </a:pPr>
            <a:r>
              <a:rPr lang="en-US" sz="1400" dirty="0"/>
              <a:t>The single variable component — held constant everywhere else to isolate chunking effects.</a:t>
            </a:r>
          </a:p>
          <a:p>
            <a:pPr algn="l">
              <a:spcBef>
                <a:spcPts val="300"/>
              </a:spcBef>
            </a:pPr>
            <a:r>
              <a:rPr lang="en-US" sz="1500" b="1" dirty="0"/>
              <a:t>Stage 3: Embedding Module</a:t>
            </a:r>
          </a:p>
          <a:p>
            <a:pPr algn="l">
              <a:spcBef>
                <a:spcPts val="100"/>
              </a:spcBef>
            </a:pPr>
            <a:r>
              <a:rPr lang="en-US" sz="1400" dirty="0"/>
              <a:t>all-MiniLM-L6-v2 (22.7M parameters, 384-dim dense vectors). Identical for both pipelines.</a:t>
            </a:r>
          </a:p>
          <a:p>
            <a:pPr algn="l">
              <a:spcBef>
                <a:spcPts val="300"/>
              </a:spcBef>
            </a:pPr>
            <a:r>
              <a:rPr lang="en-US" sz="1500" b="1" dirty="0"/>
              <a:t>Stage 4: ChromaDB Vector Store</a:t>
            </a:r>
          </a:p>
          <a:p>
            <a:pPr algn="l">
              <a:spcBef>
                <a:spcPts val="100"/>
              </a:spcBef>
            </a:pPr>
            <a:r>
              <a:rPr lang="en-US" sz="1400" dirty="0"/>
              <a:t>Two separate persistent collections. Retrieval via cosine similarity, k=1 (strict single-best-match comparison).</a:t>
            </a:r>
          </a:p>
          <a:p>
            <a:pPr algn="l">
              <a:spcBef>
                <a:spcPts val="400"/>
              </a:spcBef>
            </a:pPr>
            <a:r>
              <a:rPr lang="en-US" sz="1500" b="1" dirty="0">
                <a:solidFill>
                  <a:srgbClr val="CC0000"/>
                </a:solidFill>
              </a:rPr>
              <a:t>Dataset</a:t>
            </a:r>
          </a:p>
          <a:p>
            <a:pPr algn="l">
              <a:spcBef>
                <a:spcPts val="100"/>
              </a:spcBef>
            </a:pPr>
            <a:r>
              <a:rPr lang="en-US" sz="1400" dirty="0"/>
              <a:t>Flask web framework (v3.x) — 83 .py files including app.py, blueprints.py, cli.py, config.py, ctx.py, wrappers.py, and test files. Diverse constructs: class hierarchies, decorators, context managers, type annotations.</a:t>
            </a:r>
          </a:p>
        </p:txBody>
      </p:sp>
      <p:sp>
        <p:nvSpPr>
          <p:cNvPr id="101" name="RightCol"/>
          <p:cNvSpPr txBox="1"/>
          <p:nvPr/>
        </p:nvSpPr>
        <p:spPr>
          <a:xfrm>
            <a:off x="4876876" y="1022790"/>
            <a:ext cx="4200000" cy="58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rgbClr val="CC0000"/>
                </a:solidFill>
              </a:rPr>
              <a:t>Hyperparameters</a:t>
            </a:r>
          </a:p>
          <a:p>
            <a:pPr algn="l">
              <a:spcBef>
                <a:spcPts val="300"/>
              </a:spcBef>
            </a:pPr>
            <a:r>
              <a:rPr lang="en-US" sz="1400" b="1" dirty="0"/>
              <a:t>chunk_size: </a:t>
            </a:r>
            <a:r>
              <a:rPr lang="en-US" sz="1400" dirty="0"/>
              <a:t>1000 characters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chunk_overlap: </a:t>
            </a:r>
            <a:r>
              <a:rPr lang="en-US" sz="1400" dirty="0"/>
              <a:t>200 characters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Retrieval k: </a:t>
            </a:r>
            <a:r>
              <a:rPr lang="en-US" sz="1400" dirty="0"/>
              <a:t>1 (strict comparison)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Embedding dim: </a:t>
            </a:r>
            <a:r>
              <a:rPr lang="en-US" sz="1400" dirty="0"/>
              <a:t>384 (fixed by MiniLM)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Similarity: </a:t>
            </a:r>
            <a:r>
              <a:rPr lang="en-US" sz="1400" dirty="0"/>
              <a:t>Cosine (ChromaDB default)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Queries: </a:t>
            </a:r>
            <a:r>
              <a:rPr lang="en-US" sz="1400" dirty="0"/>
              <a:t>20 developer-focused NL questions</a:t>
            </a:r>
          </a:p>
          <a:p>
            <a:pPr algn="l">
              <a:spcBef>
                <a:spcPts val="400"/>
              </a:spcBef>
            </a:pPr>
            <a:r>
              <a:rPr lang="en-US" sz="1600" b="1" dirty="0">
                <a:solidFill>
                  <a:srgbClr val="CC0000"/>
                </a:solidFill>
              </a:rPr>
              <a:t>Scoring Rubric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400" b="1" dirty="0"/>
              <a:t>0 — Fail: </a:t>
            </a:r>
            <a:r>
              <a:rPr lang="en-US" sz="1400" dirty="0"/>
              <a:t>Wrong function or missing signature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400" b="1" dirty="0"/>
              <a:t>1 — Partial: </a:t>
            </a:r>
            <a:r>
              <a:rPr lang="en-US" sz="1400" dirty="0"/>
              <a:t>Correct file, mid-body fragment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400" b="1" dirty="0"/>
              <a:t>2 — Correct: </a:t>
            </a:r>
            <a:r>
              <a:rPr lang="en-US" sz="1400" dirty="0"/>
              <a:t>Full signature + docstring at chunk start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282102" y="245565"/>
            <a:ext cx="7490298" cy="506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Methodology: Pipeline A vs Pipeline B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</a:p>
        </p:txBody>
      </p:sp>
      <p:sp>
        <p:nvSpPr>
          <p:cNvPr id="100" name="PipelineA"/>
          <p:cNvSpPr txBox="1"/>
          <p:nvPr/>
        </p:nvSpPr>
        <p:spPr>
          <a:xfrm>
            <a:off x="457200" y="1001948"/>
            <a:ext cx="3725694" cy="4283224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Pipeline A — Baseline</a:t>
            </a:r>
          </a:p>
          <a:p>
            <a:pPr algn="ctr">
              <a:spcBef>
                <a:spcPts val="100"/>
              </a:spcBef>
            </a:pPr>
            <a:r>
              <a:rPr lang="en-US" sz="1300" i="1" dirty="0"/>
              <a:t>Fixed-Size Character Chunking</a:t>
            </a:r>
          </a:p>
          <a:p>
            <a:pPr algn="l">
              <a:spcBef>
                <a:spcPts val="300"/>
              </a:spcBef>
            </a:pPr>
            <a:r>
              <a:rPr lang="en-US" sz="1400" b="1" dirty="0"/>
              <a:t>Splitter: </a:t>
            </a:r>
            <a:r>
              <a:rPr lang="en-US" sz="1400" dirty="0"/>
              <a:t>RecursiveCharacterTextSplitter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Chunks produced: </a:t>
            </a:r>
            <a:r>
              <a:rPr lang="en-US" sz="1400" dirty="0"/>
              <a:t>804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Split logic: </a:t>
            </a:r>
            <a:r>
              <a:rPr lang="en-US" sz="1400" dirty="0"/>
              <a:t>cᵢ = S[k : k + chunk_size] where k is an arbitrary character offset. Tries paragraph/newline/whitespace breaks; falls back to character cut.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Code awareness: </a:t>
            </a:r>
            <a:r>
              <a:rPr lang="en-US" sz="1400" dirty="0"/>
              <a:t>None — ignores Python syntax entirely.</a:t>
            </a:r>
          </a:p>
          <a:p>
            <a:pPr algn="l">
              <a:spcBef>
                <a:spcPts val="300"/>
              </a:spcBef>
            </a:pPr>
            <a:r>
              <a:rPr lang="en-US" sz="1400" b="1" dirty="0"/>
              <a:t>Drawback: </a:t>
            </a:r>
            <a:r>
              <a:rPr lang="en-US" sz="1400" dirty="0"/>
              <a:t>Frequently bisects function bodies and class definitions, merging logically distinct code units to fill character quotas.</a:t>
            </a:r>
          </a:p>
          <a:p>
            <a:pPr algn="l">
              <a:spcBef>
                <a:spcPts val="300"/>
              </a:spcBef>
            </a:pPr>
            <a:r>
              <a:rPr lang="en-US" sz="1400" b="1" dirty="0"/>
              <a:t>Result: </a:t>
            </a:r>
            <a:r>
              <a:rPr lang="en-US" sz="1400" dirty="0"/>
              <a:t>Boundary alignment is </a:t>
            </a:r>
            <a:r>
              <a:rPr lang="en-US" sz="1400" b="1" dirty="0">
                <a:solidFill>
                  <a:srgbClr val="CC0000"/>
                </a:solidFill>
              </a:rPr>
              <a:t>incidental</a:t>
            </a:r>
            <a:r>
              <a:rPr lang="en-US" sz="1400" dirty="0"/>
              <a:t> — correct only when a function happens to coincide with a character-count boundary.</a:t>
            </a:r>
          </a:p>
        </p:txBody>
      </p:sp>
      <p:sp>
        <p:nvSpPr>
          <p:cNvPr id="101" name="PipelineB"/>
          <p:cNvSpPr txBox="1"/>
          <p:nvPr/>
        </p:nvSpPr>
        <p:spPr>
          <a:xfrm>
            <a:off x="4876800" y="1001948"/>
            <a:ext cx="3725694" cy="4929555"/>
          </a:xfrm>
          <a:prstGeom prst="rect">
            <a:avLst/>
          </a:prstGeom>
          <a:solidFill>
            <a:srgbClr val="F0FFF0"/>
          </a:solidFill>
          <a:ln w="19050">
            <a:solidFill>
              <a:srgbClr val="227722"/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800" b="1" dirty="0">
                <a:solidFill>
                  <a:srgbClr val="227722"/>
                </a:solidFill>
              </a:rPr>
              <a:t>Pipeline B — Proposed</a:t>
            </a:r>
          </a:p>
          <a:p>
            <a:pPr algn="ctr">
              <a:spcBef>
                <a:spcPts val="100"/>
              </a:spcBef>
            </a:pPr>
            <a:r>
              <a:rPr lang="en-US" sz="1300" i="1" dirty="0"/>
              <a:t>AST-Aware Semantic Chunking</a:t>
            </a:r>
          </a:p>
          <a:p>
            <a:pPr algn="l">
              <a:spcBef>
                <a:spcPts val="300"/>
              </a:spcBef>
            </a:pPr>
            <a:r>
              <a:rPr lang="en-US" sz="1400" b="1" dirty="0"/>
              <a:t>Splitter: </a:t>
            </a:r>
            <a:r>
              <a:rPr lang="en-US" sz="1400" dirty="0"/>
              <a:t>RecursiveCharacterTextSplitter.from_language(Language.PYTHON)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Chunks produced: </a:t>
            </a:r>
            <a:r>
              <a:rPr lang="en-US" sz="1400" dirty="0"/>
              <a:t>861 (+7.1% vs. baseline)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Split hierarchy: </a:t>
            </a:r>
            <a:r>
              <a:rPr lang="en-US" sz="1400" dirty="0"/>
              <a:t>(1) class definitions → (2) function defs → (3) blank lines → (4) single newlines → (5) character level.</a:t>
            </a:r>
          </a:p>
          <a:p>
            <a:pPr algn="l">
              <a:spcBef>
                <a:spcPts val="200"/>
              </a:spcBef>
            </a:pPr>
            <a:r>
              <a:rPr lang="en-US" sz="1400" b="1" dirty="0"/>
              <a:t>Formal: </a:t>
            </a:r>
            <a:r>
              <a:rPr lang="en-US" sz="1400" dirty="0"/>
              <a:t>cⱼ = AST_node(f), f ∈ {class_def, func_def, method_def}</a:t>
            </a:r>
          </a:p>
          <a:p>
            <a:pPr algn="l">
              <a:spcBef>
                <a:spcPts val="300"/>
              </a:spcBef>
            </a:pPr>
            <a:r>
              <a:rPr lang="en-US" sz="1400" b="1" dirty="0"/>
              <a:t>Key advantage: </a:t>
            </a:r>
            <a:r>
              <a:rPr lang="en-US" sz="1400" dirty="0"/>
              <a:t>Each function node encapsulates its complete body, decorators, signature, and docstring — exactly what an LLM needs to understand context.</a:t>
            </a:r>
          </a:p>
          <a:p>
            <a:pPr algn="l">
              <a:spcBef>
                <a:spcPts val="300"/>
              </a:spcBef>
            </a:pPr>
            <a:r>
              <a:rPr lang="en-US" sz="1400" b="1" dirty="0"/>
              <a:t>Result: </a:t>
            </a:r>
            <a:r>
              <a:rPr lang="en-US" sz="1400" dirty="0"/>
              <a:t>Boundary alignment is </a:t>
            </a:r>
            <a:r>
              <a:rPr lang="en-US" sz="1400" b="1" dirty="0">
                <a:solidFill>
                  <a:srgbClr val="227722"/>
                </a:solidFill>
              </a:rPr>
              <a:t>consistent by construction</a:t>
            </a:r>
            <a:r>
              <a:rPr lang="en-US" sz="1400" dirty="0"/>
              <a:t> — every chunk starts at a class or function definition.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&amp; Discussion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</a:p>
        </p:txBody>
      </p:sp>
      <p:sp>
        <p:nvSpPr>
          <p:cNvPr id="100" name="LeftStats"/>
          <p:cNvSpPr txBox="1"/>
          <p:nvPr/>
        </p:nvSpPr>
        <p:spPr>
          <a:xfrm>
            <a:off x="453600" y="993192"/>
            <a:ext cx="3544468" cy="20697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Chunk Statistics Comparison</a:t>
            </a:r>
          </a:p>
          <a:p>
            <a:pPr algn="l">
              <a:spcBef>
                <a:spcPts val="250"/>
              </a:spcBef>
            </a:pPr>
            <a:r>
              <a:rPr lang="en-US" sz="1400" dirty="0"/>
              <a:t>Source files (both): </a:t>
            </a:r>
            <a:r>
              <a:rPr lang="en-US" sz="1400" b="1" dirty="0"/>
              <a:t>83 .py files</a:t>
            </a:r>
          </a:p>
          <a:p>
            <a:pPr algn="l">
              <a:spcBef>
                <a:spcPts val="200"/>
              </a:spcBef>
            </a:pPr>
            <a:r>
              <a:rPr lang="en-US" sz="1400" dirty="0"/>
              <a:t>Pipeline A chunks: </a:t>
            </a:r>
            <a:r>
              <a:rPr lang="en-US" sz="1400" b="1" dirty="0">
                <a:solidFill>
                  <a:srgbClr val="CC0000"/>
                </a:solidFill>
              </a:rPr>
              <a:t>804</a:t>
            </a:r>
          </a:p>
          <a:p>
            <a:pPr algn="l">
              <a:spcBef>
                <a:spcPts val="200"/>
              </a:spcBef>
            </a:pPr>
            <a:r>
              <a:rPr lang="en-US" sz="1400" dirty="0"/>
              <a:t>Pipeline B chunks: </a:t>
            </a:r>
            <a:r>
              <a:rPr lang="en-US" sz="1400" b="1" dirty="0">
                <a:solidFill>
                  <a:srgbClr val="227722"/>
                </a:solidFill>
              </a:rPr>
              <a:t>861 (+7.1%)</a:t>
            </a:r>
          </a:p>
          <a:p>
            <a:pPr algn="l">
              <a:spcBef>
                <a:spcPts val="200"/>
              </a:spcBef>
            </a:pPr>
            <a:r>
              <a:rPr lang="en-US" sz="1400" dirty="0"/>
              <a:t>Critical query failures A: </a:t>
            </a:r>
            <a:r>
              <a:rPr lang="en-US" sz="1400" b="1" dirty="0">
                <a:solidFill>
                  <a:srgbClr val="CC0000"/>
                </a:solidFill>
              </a:rPr>
              <a:t>4 documented</a:t>
            </a:r>
          </a:p>
          <a:p>
            <a:pPr algn="l">
              <a:spcBef>
                <a:spcPts val="200"/>
              </a:spcBef>
            </a:pPr>
            <a:r>
              <a:rPr lang="en-US" sz="1400" dirty="0"/>
              <a:t>Critical query failures B: </a:t>
            </a:r>
            <a:r>
              <a:rPr lang="en-US" sz="1400" b="1" dirty="0">
                <a:solidFill>
                  <a:srgbClr val="227722"/>
                </a:solidFill>
              </a:rPr>
              <a:t>0</a:t>
            </a:r>
          </a:p>
          <a:p>
            <a:pPr algn="l">
              <a:spcBef>
                <a:spcPts val="200"/>
              </a:spcBef>
            </a:pPr>
            <a:r>
              <a:rPr lang="en-US" sz="1400" dirty="0"/>
              <a:t>Boundary retrieval A: </a:t>
            </a:r>
            <a:r>
              <a:rPr lang="en-US" sz="1400" b="1" dirty="0">
                <a:solidFill>
                  <a:srgbClr val="CC0000"/>
                </a:solidFill>
              </a:rPr>
              <a:t>Incidental</a:t>
            </a:r>
          </a:p>
          <a:p>
            <a:pPr algn="l">
              <a:spcBef>
                <a:spcPts val="200"/>
              </a:spcBef>
            </a:pPr>
            <a:r>
              <a:rPr lang="en-US" sz="1400" dirty="0"/>
              <a:t>Boundary retrieval B: </a:t>
            </a:r>
            <a:r>
              <a:rPr lang="en-US" sz="1400" b="1" dirty="0">
                <a:solidFill>
                  <a:srgbClr val="227722"/>
                </a:solidFill>
              </a:rPr>
              <a:t>Consistent</a:t>
            </a:r>
          </a:p>
        </p:txBody>
      </p:sp>
      <p:sp>
        <p:nvSpPr>
          <p:cNvPr id="101" name="RightAggregates"/>
          <p:cNvSpPr txBox="1"/>
          <p:nvPr/>
        </p:nvSpPr>
        <p:spPr>
          <a:xfrm>
            <a:off x="4937762" y="1073533"/>
            <a:ext cx="4319438" cy="234166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Aggregate Score (20 Queries)</a:t>
            </a:r>
          </a:p>
          <a:p>
            <a:pPr algn="ctr">
              <a:spcBef>
                <a:spcPts val="300"/>
              </a:spcBef>
            </a:pPr>
            <a:r>
              <a:rPr lang="en-US" sz="4800" b="1" dirty="0">
                <a:solidFill>
                  <a:srgbClr val="CC0000"/>
                </a:solidFill>
              </a:rPr>
              <a:t>28</a:t>
            </a:r>
            <a:r>
              <a:rPr lang="en-US" sz="2000" dirty="0">
                <a:solidFill>
                  <a:srgbClr val="CC0000"/>
                </a:solidFill>
              </a:rPr>
              <a:t>/40</a:t>
            </a:r>
          </a:p>
          <a:p>
            <a:pPr algn="ctr">
              <a:spcBef>
                <a:spcPts val="0"/>
              </a:spcBef>
            </a:pPr>
            <a:r>
              <a:rPr lang="en-US" sz="1400" dirty="0">
                <a:solidFill>
                  <a:srgbClr val="CC0000"/>
                </a:solidFill>
              </a:rPr>
              <a:t>Pipeline A (70%)</a:t>
            </a:r>
          </a:p>
          <a:p>
            <a:pPr algn="ctr">
              <a:spcBef>
                <a:spcPts val="200"/>
              </a:spcBef>
            </a:pPr>
            <a:r>
              <a:rPr lang="en-US" sz="4800" b="1" dirty="0">
                <a:solidFill>
                  <a:srgbClr val="227722"/>
                </a:solidFill>
              </a:rPr>
              <a:t>40</a:t>
            </a:r>
            <a:r>
              <a:rPr lang="en-US" sz="2000" dirty="0">
                <a:solidFill>
                  <a:srgbClr val="227722"/>
                </a:solidFill>
              </a:rPr>
              <a:t>/40</a:t>
            </a:r>
          </a:p>
          <a:p>
            <a:pPr algn="ctr">
              <a:spcBef>
                <a:spcPts val="0"/>
              </a:spcBef>
            </a:pPr>
            <a:r>
              <a:rPr lang="en-US" sz="1400" dirty="0">
                <a:solidFill>
                  <a:srgbClr val="227722"/>
                </a:solidFill>
              </a:rPr>
              <a:t>Pipeline B (100%)</a:t>
            </a:r>
          </a:p>
        </p:txBody>
      </p:sp>
      <p:sp>
        <p:nvSpPr>
          <p:cNvPr id="102" name="Discussion"/>
          <p:cNvSpPr txBox="1"/>
          <p:nvPr/>
        </p:nvSpPr>
        <p:spPr>
          <a:xfrm>
            <a:off x="457200" y="3900000"/>
            <a:ext cx="8800000" cy="29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CC0000"/>
                </a:solidFill>
              </a:rPr>
              <a:t>Key Discussion Points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400" dirty="0"/>
              <a:t>The 57-chunk increase (+7.1%) reflects the AST splitter’s refusal to merge semantically distinct code units just to fill a 1,000-character limit. Each extra chunk represents a code unit that would have been improperly merged in the baseline.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400" dirty="0"/>
              <a:t>Smaller, semantically consistent chunks improve embedding precision — each vector represents an increasingly specific semantic unit. Aligns with Wang et al. [3] who found 200–800 token chunks enable better retrieval.</a:t>
            </a:r>
          </a:p>
          <a:p>
            <a:pPr marL="228600" indent="-228600" algn="l">
              <a:spcBef>
                <a:spcPts val="200"/>
              </a:spcBef>
              <a:buChar char="•"/>
            </a:pPr>
            <a:r>
              <a:rPr lang="en-US" sz="1400" dirty="0"/>
              <a:t>The only cost is a negligible storage/indexing overhead for 57 extra chunks — no additional dependencies beyond standard LangChain, making it a zero-cost drop-in upgrade.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7051072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Critical Failure Modes in Pipeline A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</a:p>
        </p:txBody>
      </p:sp>
      <p:sp>
        <p:nvSpPr>
          <p:cNvPr id="100" name="ContentBox"/>
          <p:cNvSpPr txBox="1"/>
          <p:nvPr/>
        </p:nvSpPr>
        <p:spPr>
          <a:xfrm>
            <a:off x="276876" y="1039906"/>
            <a:ext cx="8800000" cy="6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dirty="0"/>
              <a:t>Four cases where Pipeline A returned qualitatively incorrect results. Pipeline B resolved all four by design:</a:t>
            </a:r>
          </a:p>
          <a:p>
            <a:pPr algn="l">
              <a:spcBef>
                <a:spcPts val="350"/>
              </a:spcBef>
            </a:pPr>
            <a:r>
              <a:rPr lang="en-US" sz="1600" b="1" dirty="0">
                <a:solidFill>
                  <a:srgbClr val="CC0000"/>
                </a:solidFill>
              </a:rPr>
              <a:t>F1 — Keyword Blindness: copy_current_request_context</a:t>
            </a:r>
          </a:p>
          <a:p>
            <a:pPr algn="l">
              <a:spcBef>
                <a:spcPts val="100"/>
              </a:spcBef>
            </a:pPr>
            <a:r>
              <a:rPr lang="en-US" sz="1400" b="1" dirty="0"/>
              <a:t>Pipeline A: </a:t>
            </a:r>
            <a:r>
              <a:rPr lang="en-US" sz="1400" dirty="0"/>
              <a:t>Retrieved def copy(self) — WRONG function. Fixed-size chunk merged both functions; shorter copy(self) was more keyword-dense, diluting the embedding for the intended target.</a:t>
            </a:r>
          </a:p>
          <a:p>
            <a:pPr algn="l">
              <a:spcBef>
                <a:spcPts val="100"/>
              </a:spcBef>
            </a:pPr>
            <a:r>
              <a:rPr lang="en-US" sz="1400" b="1" dirty="0">
                <a:solidFill>
                  <a:srgbClr val="227722"/>
                </a:solidFill>
              </a:rPr>
              <a:t>Pipeline B: </a:t>
            </a:r>
            <a:r>
              <a:rPr lang="en-US" sz="1400" dirty="0"/>
              <a:t>Each function isolated in its own chunk — exact copy_current_request_context(f:F) retrieved.</a:t>
            </a:r>
          </a:p>
          <a:p>
            <a:pPr algn="l">
              <a:spcBef>
                <a:spcPts val="300"/>
              </a:spcBef>
            </a:pPr>
            <a:r>
              <a:rPr lang="en-US" sz="1600" b="1" dirty="0">
                <a:solidFill>
                  <a:srgbClr val="CC0000"/>
                </a:solidFill>
              </a:rPr>
              <a:t>F2 — Context Fragmentation: _AppCtxGlobals class</a:t>
            </a:r>
          </a:p>
          <a:p>
            <a:pPr algn="l">
              <a:spcBef>
                <a:spcPts val="100"/>
              </a:spcBef>
            </a:pPr>
            <a:r>
              <a:rPr lang="en-US" sz="1400" b="1" dirty="0"/>
              <a:t>Pipeline A: </a:t>
            </a:r>
            <a:r>
              <a:rPr lang="en-US" sz="1400" dirty="0"/>
              <a:t>Mid-docstring fragment; class definition missing entirely — useless for an LLM needing class context.</a:t>
            </a:r>
          </a:p>
          <a:p>
            <a:pPr algn="l">
              <a:spcBef>
                <a:spcPts val="100"/>
              </a:spcBef>
            </a:pPr>
            <a:r>
              <a:rPr lang="en-US" sz="1400" b="1" dirty="0">
                <a:solidFill>
                  <a:srgbClr val="227722"/>
                </a:solidFill>
              </a:rPr>
              <a:t>Pipeline B: </a:t>
            </a:r>
            <a:r>
              <a:rPr lang="en-US" sz="1400" dirty="0"/>
              <a:t>class _AppCtxGlobals: retrieved with full docstring from the class definition boundary.</a:t>
            </a:r>
          </a:p>
          <a:p>
            <a:pPr algn="l">
              <a:spcBef>
                <a:spcPts val="300"/>
              </a:spcBef>
            </a:pPr>
            <a:r>
              <a:rPr lang="en-US" sz="1600" b="1" dirty="0">
                <a:solidFill>
                  <a:srgbClr val="CC0000"/>
                </a:solidFill>
              </a:rPr>
              <a:t>F3 — Context Fragmentation: has_request_context()</a:t>
            </a:r>
          </a:p>
          <a:p>
            <a:pPr algn="l">
              <a:spcBef>
                <a:spcPts val="100"/>
              </a:spcBef>
            </a:pPr>
            <a:r>
              <a:rPr lang="en-US" sz="1400" b="1" dirty="0"/>
              <a:t>Pipeline A: </a:t>
            </a:r>
            <a:r>
              <a:rPr lang="en-US" sz="1400" dirty="0"/>
              <a:t>Bottom half of docstring only; no signature — the LLM cannot determine what function this belongs to.</a:t>
            </a:r>
          </a:p>
          <a:p>
            <a:pPr algn="l">
              <a:spcBef>
                <a:spcPts val="100"/>
              </a:spcBef>
            </a:pPr>
            <a:r>
              <a:rPr lang="en-US" sz="1400" b="1" dirty="0">
                <a:solidFill>
                  <a:srgbClr val="227722"/>
                </a:solidFill>
              </a:rPr>
              <a:t>Pipeline B: </a:t>
            </a:r>
            <a:r>
              <a:rPr lang="en-US" sz="1400" dirty="0"/>
              <a:t>def has_request_context() -&gt; bool: with full signature and usage example code block.</a:t>
            </a:r>
          </a:p>
          <a:p>
            <a:pPr algn="l">
              <a:spcBef>
                <a:spcPts val="300"/>
              </a:spcBef>
            </a:pPr>
            <a:r>
              <a:rPr lang="en-US" sz="1600" b="1" dirty="0">
                <a:solidFill>
                  <a:srgbClr val="CC0000"/>
                </a:solidFill>
              </a:rPr>
              <a:t>F4 — Context Fragmentation: ConfigAttribute descriptor</a:t>
            </a:r>
          </a:p>
          <a:p>
            <a:pPr algn="l">
              <a:spcBef>
                <a:spcPts val="100"/>
              </a:spcBef>
            </a:pPr>
            <a:r>
              <a:rPr lang="en-US" sz="1400" b="1" dirty="0"/>
              <a:t>Pipeline A: </a:t>
            </a:r>
            <a:r>
              <a:rPr lang="en-US" sz="1400" dirty="0"/>
              <a:t>rv = obj.config[...] — mid-method fragment. No class definition or __init__ visible.</a:t>
            </a:r>
          </a:p>
          <a:p>
            <a:pPr algn="l">
              <a:spcBef>
                <a:spcPts val="100"/>
              </a:spcBef>
            </a:pPr>
            <a:r>
              <a:rPr lang="en-US" sz="1400" b="1" dirty="0">
                <a:solidFill>
                  <a:srgbClr val="227722"/>
                </a:solidFill>
              </a:rPr>
              <a:t>Pipeline B: </a:t>
            </a:r>
            <a:r>
              <a:rPr lang="en-US" sz="1400" dirty="0"/>
              <a:t>class ConfigAttribute(t.Generic[T]): with complete __init__ and all property descriptors.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Per-Query Retrieval Scores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</a:t>
            </a:r>
          </a:p>
        </p:txBody>
      </p:sp>
      <p:sp>
        <p:nvSpPr>
          <p:cNvPr id="100" name="Left"/>
          <p:cNvSpPr txBox="1"/>
          <p:nvPr/>
        </p:nvSpPr>
        <p:spPr>
          <a:xfrm>
            <a:off x="432112" y="1028452"/>
            <a:ext cx="4250000" cy="6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CC0000"/>
                </a:solidFill>
              </a:rPr>
              <a:t>Score: 0=Fail  1=Partial  2=Correct</a:t>
            </a:r>
          </a:p>
          <a:p>
            <a:pPr algn="l">
              <a:spcBef>
                <a:spcPts val="250"/>
              </a:spcBef>
            </a:pPr>
            <a:r>
              <a:rPr lang="en-US" sz="1300" b="1" dirty="0"/>
              <a:t>Query Target                       A  B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get_send_file_max_age            2  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open_resource method              1  2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CC0000"/>
                </a:solidFill>
              </a:rPr>
              <a:t>copy_current_request_context   0  </a:t>
            </a:r>
            <a:r>
              <a:rPr lang="en-US" sz="1300" dirty="0">
                <a:solidFill>
                  <a:srgbClr val="227722"/>
                </a:solidFill>
              </a:rPr>
              <a:t>2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CC0000"/>
                </a:solidFill>
              </a:rPr>
              <a:t>_AppCtxGlobals class              0  </a:t>
            </a:r>
            <a:r>
              <a:rPr lang="en-US" sz="1300" dirty="0">
                <a:solidFill>
                  <a:srgbClr val="227722"/>
                </a:solidFill>
              </a:rPr>
              <a:t>2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CC0000"/>
                </a:solidFill>
              </a:rPr>
              <a:t>has_request_context()             0  </a:t>
            </a:r>
            <a:r>
              <a:rPr lang="en-US" sz="1300" dirty="0">
                <a:solidFill>
                  <a:srgbClr val="227722"/>
                </a:solidFill>
              </a:rPr>
              <a:t>2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CC0000"/>
                </a:solidFill>
              </a:rPr>
              <a:t>ConfigAttribute descriptor         0  </a:t>
            </a:r>
            <a:r>
              <a:rPr lang="en-US" sz="1300" dirty="0">
                <a:solidFill>
                  <a:srgbClr val="227722"/>
                </a:solidFill>
              </a:rPr>
              <a:t>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load_dotenv prioritization        2  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AppContext.pop() lifecycle        2  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create_url_adapter                2  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from_prefixed_env method          2  2</a:t>
            </a:r>
          </a:p>
        </p:txBody>
      </p:sp>
      <p:sp>
        <p:nvSpPr>
          <p:cNvPr id="101" name="Right"/>
          <p:cNvSpPr txBox="1"/>
          <p:nvPr/>
        </p:nvSpPr>
        <p:spPr>
          <a:xfrm>
            <a:off x="4932121" y="1028452"/>
            <a:ext cx="4200000" cy="58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CC0000"/>
                </a:solidFill>
              </a:rPr>
              <a:t>(continued)</a:t>
            </a:r>
          </a:p>
          <a:p>
            <a:pPr algn="l">
              <a:spcBef>
                <a:spcPts val="250"/>
              </a:spcBef>
            </a:pPr>
            <a:r>
              <a:rPr lang="en-US" sz="1300" b="1" dirty="0"/>
              <a:t>Query Target                       A  B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send_static_file Flask vs BP      1  1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on_json_loading_failed debug      2  2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CC0000"/>
                </a:solidFill>
              </a:rPr>
              <a:t>Response max_cookie_size          0  </a:t>
            </a:r>
            <a:r>
              <a:rPr lang="en-US" sz="1300" dirty="0">
                <a:solidFill>
                  <a:srgbClr val="227722"/>
                </a:solidFill>
              </a:rPr>
              <a:t>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find_best_app process             1  2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CC0000"/>
                </a:solidFill>
              </a:rPr>
              <a:t>ScriptInfo.load_app               0  </a:t>
            </a:r>
            <a:r>
              <a:rPr lang="en-US" sz="1300" dirty="0"/>
              <a:t>1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with_appcontext decorator         2  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load_dotenv file priority         2  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Config.from_prefixed_env          2  2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CC0000"/>
                </a:solidFill>
              </a:rPr>
              <a:t>ConfigAttribute descriptor fetch  0  </a:t>
            </a:r>
            <a:r>
              <a:rPr lang="en-US" sz="1300" dirty="0">
                <a:solidFill>
                  <a:srgbClr val="227722"/>
                </a:solidFill>
              </a:rPr>
              <a:t>2</a:t>
            </a:r>
          </a:p>
          <a:p>
            <a:pPr algn="l">
              <a:spcBef>
                <a:spcPts val="150"/>
              </a:spcBef>
            </a:pPr>
            <a:r>
              <a:rPr lang="en-US" sz="1300" dirty="0"/>
              <a:t>from_pyfile vs from_object        2  2</a:t>
            </a:r>
          </a:p>
          <a:p>
            <a:pPr algn="l">
              <a:spcBef>
                <a:spcPts val="350"/>
              </a:spcBef>
            </a:pPr>
            <a:r>
              <a:rPr lang="en-US" sz="1500" b="1" dirty="0">
                <a:solidFill>
                  <a:srgbClr val="CC0000"/>
                </a:solidFill>
              </a:rPr>
              <a:t>TOTAL:   A = 28/40 (70%)   B = 40/40 (100%)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53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Future Work</a:t>
            </a:r>
          </a:p>
        </p:txBody>
      </p:sp>
      <p:sp>
        <p:nvSpPr>
          <p:cNvPr id="3" name="Footer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</a:p>
        </p:txBody>
      </p:sp>
      <p:sp>
        <p:nvSpPr>
          <p:cNvPr id="100" name="Left"/>
          <p:cNvSpPr txBox="1"/>
          <p:nvPr/>
        </p:nvSpPr>
        <p:spPr>
          <a:xfrm>
            <a:off x="432112" y="922790"/>
            <a:ext cx="4250000" cy="6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Key Findings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500" b="1" dirty="0"/>
              <a:t>Finding 1 — Chunk Quality: </a:t>
            </a:r>
            <a:r>
              <a:rPr lang="en-US" sz="1500" dirty="0"/>
              <a:t>Pipeline B produced 861 syntactically meaningful chunks vs. 804 arbitrary fragments in Pipeline A. Every semantic chunk contained a self-contained, complete code unit.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500" b="1" dirty="0"/>
              <a:t>Finding 2 — Failure Elimination: </a:t>
            </a:r>
            <a:r>
              <a:rPr lang="en-US" sz="1500" dirty="0"/>
              <a:t>All four critical failure modes in Pipeline A (context fragmentation F2, F3, F4 and keyword blindness F1) were entirely eliminated by the structural guarantees of AST-aware chunking.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500" b="1" dirty="0"/>
              <a:t>Finding 3 — Retrieval Score: </a:t>
            </a:r>
            <a:r>
              <a:rPr lang="en-US" sz="1500" dirty="0"/>
              <a:t>Pipeline B achieved a </a:t>
            </a:r>
            <a:r>
              <a:rPr lang="en-US" sz="1500" b="1" dirty="0"/>
              <a:t>perfect 40/40 (100%)</a:t>
            </a:r>
            <a:r>
              <a:rPr lang="en-US" sz="1500" dirty="0"/>
              <a:t> aggregate score vs. 28/40 (70%) for the baseline — a 30-point improvement.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500" b="1" dirty="0"/>
              <a:t>Core Conclusion: </a:t>
            </a:r>
            <a:r>
              <a:rPr lang="en-US" sz="1500" dirty="0"/>
              <a:t>Code structure must be a first-class concern in RAG preprocessing. Traditional text-based chunking produces unacceptable retrieval quality for developer-oriented use cases.</a:t>
            </a:r>
          </a:p>
        </p:txBody>
      </p:sp>
      <p:sp>
        <p:nvSpPr>
          <p:cNvPr id="101" name="Right"/>
          <p:cNvSpPr txBox="1"/>
          <p:nvPr/>
        </p:nvSpPr>
        <p:spPr>
          <a:xfrm>
            <a:off x="4876876" y="1044967"/>
            <a:ext cx="4200000" cy="59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CC0000"/>
                </a:solidFill>
              </a:rPr>
              <a:t>Future Work</a:t>
            </a:r>
          </a:p>
          <a:p>
            <a:pPr marL="228600" indent="-228600" algn="l">
              <a:spcBef>
                <a:spcPts val="250"/>
              </a:spcBef>
              <a:buChar char="•"/>
            </a:pPr>
            <a:r>
              <a:rPr lang="en-US" sz="1400" b="1" dirty="0"/>
              <a:t>End-to-End LLM Generation: </a:t>
            </a:r>
            <a:r>
              <a:rPr lang="en-US" sz="1400" dirty="0"/>
              <a:t>Add a generation stage for quantitative pass@k evaluation alongside the qualitative analysis.</a:t>
            </a:r>
          </a:p>
          <a:p>
            <a:pPr marL="228600" indent="-228600" algn="l">
              <a:spcBef>
                <a:spcPts val="250"/>
              </a:spcBef>
              <a:buChar char="•"/>
            </a:pPr>
            <a:r>
              <a:rPr lang="en-US" sz="1400" b="1" dirty="0"/>
              <a:t>Code-Specific Re-ranking: </a:t>
            </a:r>
            <a:r>
              <a:rPr lang="en-US" sz="1400" dirty="0"/>
              <a:t>Apply models such as voyage-code-2 or Jina-v2-code on top of AST-aware chunks to further boost retrieval precision.</a:t>
            </a:r>
          </a:p>
          <a:p>
            <a:pPr marL="228600" indent="-228600" algn="l">
              <a:spcBef>
                <a:spcPts val="250"/>
              </a:spcBef>
              <a:buChar char="•"/>
            </a:pPr>
            <a:r>
              <a:rPr lang="en-US" sz="1400" b="1" dirty="0"/>
              <a:t>Broader Codebase Validation: </a:t>
            </a:r>
            <a:r>
              <a:rPr lang="en-US" sz="1400" dirty="0"/>
              <a:t>Evaluate on Django, NumPy, and other large Python projects to confirm generalisability beyond Flask.</a:t>
            </a:r>
          </a:p>
          <a:p>
            <a:pPr marL="228600" indent="-228600" algn="l">
              <a:spcBef>
                <a:spcPts val="250"/>
              </a:spcBef>
              <a:buChar char="•"/>
            </a:pPr>
            <a:r>
              <a:rPr lang="en-US" sz="1400" b="1" dirty="0"/>
              <a:t>Hybrid Retrieval: </a:t>
            </a:r>
            <a:r>
              <a:rPr lang="en-US" sz="1400" dirty="0"/>
              <a:t>Combine BM25 lexical search with dense AST-aware semantic search to mitigate residual ambiguity in embedding space.</a:t>
            </a:r>
          </a:p>
          <a:p>
            <a:pPr marL="228600" indent="-228600" algn="l">
              <a:spcBef>
                <a:spcPts val="250"/>
              </a:spcBef>
              <a:buChar char="•"/>
            </a:pPr>
            <a:r>
              <a:rPr lang="en-US" sz="1400" b="1" dirty="0"/>
              <a:t>Multi-Language Support: </a:t>
            </a:r>
            <a:r>
              <a:rPr lang="en-US" sz="1400" dirty="0"/>
              <a:t>Extend to TypeScript, Java, and C++ to broaden applicability across the full spectrum of developer tooling.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355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/>
              <a:t>Thank You</a:t>
            </a:r>
            <a:br>
              <a:rPr lang="en-US" sz="2000"/>
            </a:br>
            <a:r>
              <a:rPr lang="en-US" sz="1600" b="0"/>
              <a:t>Rudraksh Kapoor • Anshul Arora • Abhishek</a:t>
            </a:r>
            <a:br>
              <a:rPr lang="en-US" sz="1400"/>
            </a:br>
            <a:r>
              <a:rPr lang="en-US" sz="1400" b="0"/>
              <a:t>Dept. of Computer Science &amp; Engineering, Chitkara University, Punjab</a:t>
            </a:r>
            <a:br>
              <a:rPr lang="en-US" sz="1200"/>
            </a:br>
            <a:r>
              <a:rPr lang="en-US" sz="1200" b="0"/>
              <a:t>Supervised by: Dr. Preeti Saini &amp; Dr. Gurpreet Singh</a:t>
            </a:r>
            <a:endParaRPr sz="1400"/>
          </a:p>
        </p:txBody>
      </p:sp>
      <p:sp>
        <p:nvSpPr>
          <p:cNvPr id="106" name="Google Shape;106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yritsolution</Template>
  <TotalTime>49</TotalTime>
  <Words>2013</Words>
  <Application>Microsoft Office PowerPoint</Application>
  <PresentationFormat>Custom</PresentationFormat>
  <Paragraphs>168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Trebuchet MS</vt:lpstr>
      <vt:lpstr>Office Theme</vt:lpstr>
      <vt:lpstr>PowerPoint Presentation</vt:lpstr>
      <vt:lpstr>Introduction</vt:lpstr>
      <vt:lpstr>Problem Statement</vt:lpstr>
      <vt:lpstr>Objective</vt:lpstr>
      <vt:lpstr>Literature Review</vt:lpstr>
      <vt:lpstr>Methodology</vt:lpstr>
      <vt:lpstr>Methodology: Pipeline A vs Pipeline B</vt:lpstr>
      <vt:lpstr>Results &amp; Discussion</vt:lpstr>
      <vt:lpstr>Critical Failure Modes in Pipeline A</vt:lpstr>
      <vt:lpstr>Per-Query Retrieval Scores</vt:lpstr>
      <vt:lpstr>Conclusion &amp; Future Work</vt:lpstr>
      <vt:lpstr>Thank You Rudraksh Kapoor • Anshul Arora • Abhishek Dept. of Computer Science &amp; Engineering, Chitkara University, Punjab Supervised by: Dr. Preeti Saini &amp; Dr. Gurpreet Singh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nakul JAIN</dc:creator>
  <cp:lastModifiedBy>Rudraksh Kapoor</cp:lastModifiedBy>
  <cp:revision>11</cp:revision>
  <dcterms:created xsi:type="dcterms:W3CDTF">2026-03-24T19:17:42Z</dcterms:created>
  <dcterms:modified xsi:type="dcterms:W3CDTF">2026-04-25T19:29:17Z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